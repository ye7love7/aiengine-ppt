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各位领导，大家好。今天汇报的主题是强化网络空间涉枪爆治理工作举措。我们将围绕网络治理、平台监管、数据共享三大核心议题展开。首先，请允许我介绍整体工作框架。</a:t>
            </a:r>
          </a:p>
          <a:p>
            <a:endParaRPr lang="zh-CN" dirty="0"/>
          </a:p>
          <a:p>
            <a:r>
              <a:rPr lang="zh-CN" dirty="0"/>
              <a:t>要点： 明确网络空间涉枪爆治理的总体目标 / 聚焦平台责任与数据协同 / 构建长效治理机制</a:t>
            </a:r>
          </a:p>
          <a:p>
            <a:r>
              <a:rPr lang="zh-CN" dirty="0"/>
              <a:t>时长： 1.0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本次汇报将围绕三个核心方面展开：首先强化情报信息的监测与处置，其次加强网络平台的监管与处罚，最后健全数据流转共享机制。整体结构清晰，便于后续逐项深入。</a:t>
            </a:r>
          </a:p>
          <a:p>
            <a:endParaRPr lang="zh-CN" dirty="0"/>
          </a:p>
          <a:p>
            <a:r>
              <a:rPr lang="zh-CN" dirty="0"/>
              <a:t>要点： 情报监测与处置 / 平台监管与处罚 / 数据共享机制</a:t>
            </a:r>
          </a:p>
          <a:p>
            <a:r>
              <a:rPr lang="zh-CN" dirty="0"/>
              <a:t>时长： 1.0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页展示网络枪爆预警闭环的三大深化方向。首先，我们扩展特征库，覆盖电磁枪改装件和3D打印配件等新兴领域。其次，模型从关键词命中升级为行为意图识别，以破解分散购件手法。最后，这些举措将推动线索核查见枪率持续提升。</a:t>
            </a:r>
          </a:p>
          <a:p>
            <a:endParaRPr lang="zh-CN" dirty="0"/>
          </a:p>
          <a:p>
            <a:r>
              <a:rPr lang="zh-CN" dirty="0"/>
              <a:t>要点： 特征库延伸至新兴风险领域 / 模型升级为行为意图识别 / 提升实战见枪率</a:t>
            </a:r>
          </a:p>
          <a:p>
            <a:r>
              <a:rPr lang="zh-CN" dirty="0"/>
              <a:t>时长： 2.0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页展示五位一体协同格局，明确刑侦、网安、治安、技侦、大数据五大警种在打击网络枪爆犯罪中的职责分工。刑侦作为主打力量统筹线索研判与落地打击，网安负责网上线索挖掘与平台监管，治安强化寄递物流监管，技侦聚焦寄递渠道研判，大数据提供算力与模型支撑。通过五警种协同联动，形成从网上发现、渠道拦截到落地打击的全链条闭环。</a:t>
            </a:r>
          </a:p>
          <a:p>
            <a:endParaRPr lang="zh-CN" dirty="0"/>
          </a:p>
          <a:p>
            <a:r>
              <a:rPr lang="zh-CN" dirty="0"/>
              <a:t>要点： 明确五警种职责边界，避免职能重叠 / 以大数据为底座，驱动线索研判与落地打击 / 构建从网上发现到寄递拦截的全链条闭环</a:t>
            </a:r>
          </a:p>
          <a:p>
            <a:r>
              <a:rPr lang="zh-CN" dirty="0"/>
              <a:t>时长： 1.5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展示平台监管的量化成果。通过专项检查与隐患整改，我们实现了从被动应对到主动防御的转变。涉枪爆信息的处置和账号封禁数据，体现了对网络乱象的零容忍。警企协同机制，如实体警务室和一企一策，确保了监管的精准与长效。</a:t>
            </a:r>
          </a:p>
          <a:p>
            <a:endParaRPr lang="zh-CN" dirty="0"/>
          </a:p>
          <a:p>
            <a:r>
              <a:rPr lang="zh-CN" dirty="0"/>
              <a:t>要点： 专项检查2535次，整改隐患485处 / 处置涉枪爆信息7578条，封禁账号9673个 / 建立实体警务室，一企一策机制</a:t>
            </a:r>
          </a:p>
          <a:p>
            <a:r>
              <a:rPr lang="zh-CN" dirty="0"/>
              <a:t>时长： 1.5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页聚焦数据共享机制的三大举措。省内通过接入三云平台，实现16类标签数据上云融合，打破数据孤岛。全国层面积极对接公安部，争取数据汇聚并推广平台经验，构建协同网络。警企之间建立推送-核查-反馈闭环，实现双向赋能，显著提升实战效能。</a:t>
            </a:r>
          </a:p>
          <a:p>
            <a:endParaRPr lang="zh-CN" dirty="0"/>
          </a:p>
          <a:p>
            <a:r>
              <a:rPr lang="zh-CN" dirty="0"/>
              <a:t>要点： 省内数据融合夯实基础 / 全国协同拓展资源视野 / 警企闭环提升实战效能</a:t>
            </a:r>
          </a:p>
          <a:p>
            <a:r>
              <a:rPr lang="zh-CN" dirty="0"/>
              <a:t>时长： 2.0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本次汇报围绕网络涉枪爆犯罪的治理路径进行了系统梳理。下一步，我们将聚焦预警闭环、协同格局和数据共享三大方向，持续提升打击效能。通过跨部门联动与技术赋能，推动形成更加严密、高效的治理体系。</a:t>
            </a:r>
          </a:p>
          <a:p>
            <a:endParaRPr lang="zh-CN" dirty="0"/>
          </a:p>
          <a:p>
            <a:r>
              <a:rPr lang="zh-CN" dirty="0"/>
              <a:t>要点： 建立从线索发现到处置反馈的完整预警闭环 / 推动公安、网信、平台、社会等多方协同治理 / 打通数据壁垒，实现跨区域、跨部门高效共享</a:t>
            </a:r>
          </a:p>
          <a:p>
            <a:r>
              <a:rPr lang="zh-CN" dirty="0"/>
              <a:t>时长： 1.5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7620000" y="-476250"/>
            <a:ext cx="5715000" cy="3810000"/>
          </a:xfrm>
          <a:prstGeom prst="ellipse">
            <a:avLst/>
          </a:prstGeom>
          <a:gradFill>
            <a:gsLst>
              <a:gs pos="0">
                <a:srgbClr val="D97757">
                  <a:alpha val="3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-476250" y="352425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20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952500" y="1587500"/>
            <a:ext cx="10477500" cy="3492500"/>
            <a:chOff x="952500" y="1587500"/>
            <a:chExt cx="10477500" cy="3492500"/>
          </a:xfrm>
        </p:grpSpPr>
        <p:sp>
          <p:nvSpPr>
            <p:cNvPr id="12" name="Freeform 12"/>
            <p:cNvSpPr/>
            <p:nvPr/>
          </p:nvSpPr>
          <p:spPr>
            <a:xfrm>
              <a:off x="952500" y="1587500"/>
              <a:ext cx="2381250" cy="508000"/>
            </a:xfrm>
            <a:custGeom>
              <a:avLst/>
              <a:gdLst/>
              <a:ahLst/>
              <a:cxnLst/>
              <a:rect l="l" t="t" r="r" b="b"/>
              <a:pathLst>
                <a:path w="2381250" h="508000">
                  <a:moveTo>
                    <a:pt x="0" y="317500"/>
                  </a:moveTo>
                  <a:cubicBezTo>
                    <a:pt x="952500" y="0"/>
                    <a:pt x="1746250" y="63500"/>
                    <a:pt x="23812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9050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190500"/>
                  </a:moveTo>
                  <a:cubicBezTo>
                    <a:pt x="635000" y="571500"/>
                    <a:pt x="1111250" y="508000"/>
                    <a:pt x="1428750" y="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572500" y="41910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cubicBezTo>
                    <a:pt x="635000" y="0"/>
                    <a:pt x="1270000" y="0"/>
                    <a:pt x="1905000" y="381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477500" y="4572000"/>
              <a:ext cx="952500" cy="508000"/>
            </a:xfrm>
            <a:custGeom>
              <a:avLst/>
              <a:gdLst/>
              <a:ahLst/>
              <a:cxnLst/>
              <a:rect l="l" t="t" r="r" b="b"/>
              <a:pathLst>
                <a:path w="952500" h="508000">
                  <a:moveTo>
                    <a:pt x="0" y="0"/>
                  </a:moveTo>
                  <a:cubicBezTo>
                    <a:pt x="317500" y="444500"/>
                    <a:pt x="635000" y="508000"/>
                    <a:pt x="952500" y="1905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14400" y="1866900"/>
            <a:ext cx="10553700" cy="2933700"/>
            <a:chOff x="914400" y="1866900"/>
            <a:chExt cx="10553700" cy="2933700"/>
          </a:xfrm>
        </p:grpSpPr>
        <p:sp>
          <p:nvSpPr>
            <p:cNvPr id="17" name="Ellipse 17"/>
            <p:cNvSpPr/>
            <p:nvPr/>
          </p:nvSpPr>
          <p:spPr>
            <a:xfrm>
              <a:off x="91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76600" y="2038350"/>
              <a:ext cx="114300" cy="1143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2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24875" y="4524375"/>
              <a:ext cx="95250" cy="952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10825" y="4505325"/>
              <a:ext cx="133350" cy="1333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391900" y="47244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657350" y="1095375"/>
            <a:ext cx="9344025" cy="3914775"/>
            <a:chOff x="1657350" y="1095375"/>
            <a:chExt cx="9344025" cy="3914775"/>
          </a:xfrm>
        </p:grpSpPr>
        <p:sp>
          <p:nvSpPr>
            <p:cNvPr id="24" name="Ellipse 24"/>
            <p:cNvSpPr/>
            <p:nvPr/>
          </p:nvSpPr>
          <p:spPr>
            <a:xfrm>
              <a:off x="9925050" y="1638300"/>
              <a:ext cx="152400" cy="1524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906125" y="1095375"/>
              <a:ext cx="95250" cy="9525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657350" y="4895850"/>
              <a:ext cx="114300" cy="1143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</p:grpSp>
      <p:sp>
        <p:nvSpPr>
          <p:cNvPr id="28" name="Rectangle 28"/>
          <p:cNvSpPr/>
          <p:nvPr/>
        </p:nvSpPr>
        <p:spPr>
          <a:xfrm>
            <a:off x="571500" y="571500"/>
            <a:ext cx="762000" cy="38100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12056" y="2404110"/>
            <a:ext cx="976788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强化网络空间涉枪爆治理工作举措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38462" y="3266122"/>
            <a:ext cx="631507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聚焦网络治理、平台监管、数据共享三大核心议题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70413" y="4283392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""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8165" y="6363652"/>
            <a:ext cx="7934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2026-09-11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06878" y="6363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强化网络空间涉枪爆治理工作举措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内容导航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38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628650" y="1676400"/>
            <a:ext cx="5426964" cy="4505325"/>
            <a:chOff x="628650" y="1676400"/>
            <a:chExt cx="5426964" cy="4505325"/>
          </a:xfrm>
        </p:grpSpPr>
        <p:grpSp>
          <p:nvGrpSpPr>
            <p:cNvPr id="12" name="Group 12"/>
            <p:cNvGrpSpPr/>
            <p:nvPr/>
          </p:nvGrpSpPr>
          <p:grpSpPr>
            <a:xfrm>
              <a:off x="628650" y="1676400"/>
              <a:ext cx="5426964" cy="714375"/>
              <a:chOff x="628650" y="1676400"/>
              <a:chExt cx="5426964" cy="7143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28650" y="1676400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09051" y="1825942"/>
                <a:ext cx="963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19200" y="1695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汇报结构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23010" y="1946910"/>
                <a:ext cx="48326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01 强化网络空间涉枪爆情报信息监测、研判、预警、处置 / 02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23010" y="2146935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加强对网络平台监管、处罚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8650" y="2486025"/>
              <a:ext cx="457200" cy="457200"/>
              <a:chOff x="628650" y="2486025"/>
              <a:chExt cx="457200" cy="457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628650" y="2486025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8317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8650" y="3295650"/>
              <a:ext cx="457200" cy="457200"/>
              <a:chOff x="628650" y="3295650"/>
              <a:chExt cx="457200" cy="4572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8650" y="3295650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83173" y="344519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8650" y="4105275"/>
              <a:ext cx="457200" cy="457200"/>
              <a:chOff x="628650" y="4105275"/>
              <a:chExt cx="457200" cy="4572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28650" y="4105275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173" y="425481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28650" y="4914900"/>
              <a:ext cx="457200" cy="457200"/>
              <a:chOff x="628650" y="4914900"/>
              <a:chExt cx="457200" cy="4572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28650" y="4914900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83173" y="506444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8650" y="5724525"/>
              <a:ext cx="457200" cy="457200"/>
              <a:chOff x="628650" y="5724525"/>
              <a:chExt cx="457200" cy="4572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28650" y="5724525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83173" y="58740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8096250" y="1905000"/>
            <a:ext cx="3333750" cy="3810000"/>
            <a:chOff x="8096250" y="1905000"/>
            <a:chExt cx="3333750" cy="3810000"/>
          </a:xfrm>
        </p:grpSpPr>
        <p:sp>
          <p:nvSpPr>
            <p:cNvPr id="29" name="Rectangle 29"/>
            <p:cNvSpPr/>
            <p:nvPr/>
          </p:nvSpPr>
          <p:spPr>
            <a:xfrm>
              <a:off x="8096250" y="1905000"/>
              <a:ext cx="3333750" cy="38100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77250" y="2286000"/>
              <a:ext cx="2571750" cy="47625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 w="19050">
              <a:solidFill>
                <a:srgbClr val="4A90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08405" y="2461260"/>
              <a:ext cx="13094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Single LLM Call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763125" y="2762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33" name="Polygon 33"/>
            <p:cNvSpPr/>
            <p:nvPr/>
          </p:nvSpPr>
          <p:spPr>
            <a:xfrm>
              <a:off x="9715500" y="3048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77250" y="3190875"/>
              <a:ext cx="2571750" cy="476250"/>
            </a:xfrm>
            <a:prstGeom prst="rect">
              <a:avLst/>
            </a:prstGeom>
            <a:solidFill>
              <a:srgbClr val="4A90D9">
                <a:alpha val="20000"/>
              </a:srgbClr>
            </a:solidFill>
            <a:ln w="19050">
              <a:solidFill>
                <a:srgbClr val="4A90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78626" y="3366135"/>
              <a:ext cx="9689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Workflows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763125" y="3667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4748B"/>
              </a:solidFill>
              <a:prstDash val="dash"/>
            </a:ln>
          </p:spPr>
        </p:sp>
        <p:sp>
          <p:nvSpPr>
            <p:cNvPr id="37" name="Polygon 37"/>
            <p:cNvSpPr/>
            <p:nvPr/>
          </p:nvSpPr>
          <p:spPr>
            <a:xfrm>
              <a:off x="9715500" y="3952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77250" y="4095750"/>
              <a:ext cx="2571750" cy="476250"/>
            </a:xfrm>
            <a:prstGeom prst="rect">
              <a:avLst/>
            </a:prstGeom>
            <a:solidFill>
              <a:srgbClr val="D97757">
                <a:alpha val="20000"/>
              </a:srgbClr>
            </a:solidFill>
            <a:ln w="19050">
              <a:solidFill>
                <a:srgbClr val="D9775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92178" y="427101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Autonomous Agents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66409" y="48396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复杂度递增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3085" y="50492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按需升级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1144250" y="2857500"/>
              <a:ext cx="190500" cy="1333500"/>
            </a:xfrm>
            <a:custGeom>
              <a:avLst/>
              <a:gdLst/>
              <a:ahLst/>
              <a:cxnLst/>
              <a:rect l="l" t="t" r="r" b="b"/>
              <a:pathLst>
                <a:path w="190500" h="1333500">
                  <a:moveTo>
                    <a:pt x="0" y="0"/>
                  </a:moveTo>
                  <a:lnTo>
                    <a:pt x="190500" y="666750"/>
                  </a:ln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5867972" y="65065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 / 7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725805"/>
            <a:ext cx="71382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网络枪爆预警闭环：从关键词命中到行为意图识别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714500"/>
              <a:ext cx="3429000" cy="5715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5191125"/>
              <a:ext cx="762000" cy="2667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438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5715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5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67250" y="5191125"/>
              <a:ext cx="762000" cy="2667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91500" y="1714500"/>
              <a:ext cx="3429000" cy="57150"/>
            </a:xfrm>
            <a:prstGeom prst="rect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0800" y="2263140"/>
              <a:ext cx="3348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⚙️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77250" y="5191125"/>
              <a:ext cx="762000" cy="266700"/>
            </a:xfrm>
            <a:prstGeom prst="rect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 / 7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725805"/>
            <a:ext cx="77823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五位一体协同格局：刑侦主打、网安主管、治安主防、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1078230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技侦主研、大数据主算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714500"/>
              <a:ext cx="3429000" cy="5715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4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5191125"/>
              <a:ext cx="762000" cy="2667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714500"/>
              <a:ext cx="3429000" cy="5715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5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5191125"/>
              <a:ext cx="762000" cy="2667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91500" y="1714500"/>
              <a:ext cx="3429000" cy="57150"/>
            </a:xfrm>
            <a:prstGeom prst="rect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0800" y="2263140"/>
              <a:ext cx="3348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⚙️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77250" y="5191125"/>
              <a:ext cx="762000" cy="266700"/>
            </a:xfrm>
            <a:prstGeom prst="rect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 / 7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72580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平台监管成效显著：从被动应对转向主动防御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714500"/>
              <a:ext cx="3429000" cy="5715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5191125"/>
              <a:ext cx="762000" cy="2667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438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5715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5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67250" y="5191125"/>
              <a:ext cx="762000" cy="2667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91500" y="1714500"/>
              <a:ext cx="3429000" cy="57150"/>
            </a:xfrm>
            <a:prstGeom prst="rect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0800" y="2263140"/>
              <a:ext cx="3348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⚙️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77250" y="5191125"/>
              <a:ext cx="762000" cy="266700"/>
            </a:xfrm>
            <a:prstGeom prst="rect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 / 7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725805"/>
            <a:ext cx="71382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数据共享机制：打通省内通道，构建全国协同网络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714500"/>
              <a:ext cx="3429000" cy="5715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5191125"/>
              <a:ext cx="762000" cy="2667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438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5715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53095" y="22631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67250" y="5191125"/>
              <a:ext cx="762000" cy="2667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714500"/>
              <a:ext cx="3429000" cy="40005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91500" y="1714500"/>
              <a:ext cx="3429000" cy="57150"/>
            </a:xfrm>
            <a:prstGeom prst="rect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0800" y="2263140"/>
              <a:ext cx="3348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⚙️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77250" y="5191125"/>
              <a:ext cx="762000" cy="266700"/>
            </a:xfrm>
            <a:prstGeom prst="rect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 / 7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476250" y="19050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15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667500" y="2857500"/>
            <a:ext cx="5334000" cy="3810000"/>
          </a:xfrm>
          <a:prstGeom prst="ellipse">
            <a:avLst/>
          </a:prstGeom>
          <a:gradFill>
            <a:gsLst>
              <a:gs pos="0">
                <a:srgbClr val="D97757">
                  <a:alpha val="2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428750" y="1111250"/>
            <a:ext cx="9366250" cy="4127500"/>
            <a:chOff x="1428750" y="1111250"/>
            <a:chExt cx="9366250" cy="4127500"/>
          </a:xfrm>
        </p:grpSpPr>
        <p:sp>
          <p:nvSpPr>
            <p:cNvPr id="12" name="Freeform 12"/>
            <p:cNvSpPr/>
            <p:nvPr/>
          </p:nvSpPr>
          <p:spPr>
            <a:xfrm>
              <a:off x="1428750" y="1111250"/>
              <a:ext cx="1905000" cy="603250"/>
            </a:xfrm>
            <a:custGeom>
              <a:avLst/>
              <a:gdLst/>
              <a:ahLst/>
              <a:cxnLst/>
              <a:rect l="l" t="t" r="r" b="b"/>
              <a:pathLst>
                <a:path w="1905000" h="603250">
                  <a:moveTo>
                    <a:pt x="0" y="317500"/>
                  </a:moveTo>
                  <a:cubicBezTo>
                    <a:pt x="635000" y="0"/>
                    <a:pt x="1270000" y="95250"/>
                    <a:pt x="1905000" y="603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714500"/>
              <a:ext cx="539750" cy="1333500"/>
            </a:xfrm>
            <a:custGeom>
              <a:avLst/>
              <a:gdLst/>
              <a:ahLst/>
              <a:cxnLst/>
              <a:rect l="l" t="t" r="r" b="b"/>
              <a:pathLst>
                <a:path w="539750" h="1333500">
                  <a:moveTo>
                    <a:pt x="0" y="0"/>
                  </a:moveTo>
                  <a:cubicBezTo>
                    <a:pt x="444500" y="444500"/>
                    <a:pt x="539750" y="889000"/>
                    <a:pt x="285750" y="13335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048750" y="3492500"/>
              <a:ext cx="1428750" cy="508000"/>
            </a:xfrm>
            <a:custGeom>
              <a:avLst/>
              <a:gdLst/>
              <a:ahLst/>
              <a:cxnLst/>
              <a:rect l="l" t="t" r="r" b="b"/>
              <a:pathLst>
                <a:path w="1428750" h="508000">
                  <a:moveTo>
                    <a:pt x="0" y="317500"/>
                  </a:moveTo>
                  <a:cubicBezTo>
                    <a:pt x="635000" y="0"/>
                    <a:pt x="1111250" y="63500"/>
                    <a:pt x="14287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87000" y="4000500"/>
              <a:ext cx="508000" cy="1238250"/>
            </a:xfrm>
            <a:custGeom>
              <a:avLst/>
              <a:gdLst/>
              <a:ahLst/>
              <a:cxnLst/>
              <a:rect l="l" t="t" r="r" b="b"/>
              <a:pathLst>
                <a:path w="508000" h="1238250">
                  <a:moveTo>
                    <a:pt x="190500" y="0"/>
                  </a:moveTo>
                  <a:cubicBezTo>
                    <a:pt x="508000" y="508000"/>
                    <a:pt x="444500" y="920750"/>
                    <a:pt x="0" y="1238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81125" y="1381125"/>
            <a:ext cx="2276475" cy="1704975"/>
            <a:chOff x="1381125" y="1381125"/>
            <a:chExt cx="2276475" cy="1704975"/>
          </a:xfrm>
        </p:grpSpPr>
        <p:sp>
          <p:nvSpPr>
            <p:cNvPr id="17" name="Ellipse 17"/>
            <p:cNvSpPr/>
            <p:nvPr/>
          </p:nvSpPr>
          <p:spPr>
            <a:xfrm>
              <a:off x="1381125" y="1381125"/>
              <a:ext cx="95250" cy="952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67075" y="1647825"/>
              <a:ext cx="133350" cy="1333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581400" y="3009900"/>
              <a:ext cx="76200" cy="7620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991600" y="3752850"/>
            <a:ext cx="1562100" cy="1533525"/>
            <a:chOff x="8991600" y="3752850"/>
            <a:chExt cx="1562100" cy="1533525"/>
          </a:xfrm>
        </p:grpSpPr>
        <p:sp>
          <p:nvSpPr>
            <p:cNvPr id="21" name="Ellipse 21"/>
            <p:cNvSpPr/>
            <p:nvPr/>
          </p:nvSpPr>
          <p:spPr>
            <a:xfrm>
              <a:off x="8991600" y="3752850"/>
              <a:ext cx="114300" cy="1143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1300" y="3924300"/>
              <a:ext cx="152400" cy="1524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239375" y="5191125"/>
              <a:ext cx="95250" cy="9525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651373" y="2156460"/>
            <a:ext cx="8892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1283" y="253174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571750" y="3743325"/>
            <a:ext cx="704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持续深化网络治理、平台监管与数据共享，全面提升涉枪爆犯罪打击能力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4381500"/>
            <a:ext cx="381000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98057" y="4664392"/>
            <a:ext cx="47958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构建全链条、多维度、智能化的涉枪爆犯罪治理体系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8165" y="6363652"/>
            <a:ext cx="7934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2026-09-11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69789" y="6363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